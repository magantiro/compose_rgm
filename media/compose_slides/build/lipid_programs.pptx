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29968"/>
            <a:ext cx="95097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generative routes to new ionizable lipids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3346704"/>
            <a:ext cx="8595360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35844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15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synthesis-grounded flow matching within a known Ugi-3 family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9867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15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fragment-constrained transformation into novel scaffold space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generative routes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977640" y="15179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092440" y="15179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1956816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transformation process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61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regime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761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Synthesis-grounded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761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molecular edits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273552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198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regime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4198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Ugi-3 family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4198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scaffold space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078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prior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0782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semantics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0782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constraint on a motif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590288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736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path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4736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→ reporter IM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736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A549 → intranasal lung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5248656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5394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vaccine delivery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5394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editing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5907024"/>
            <a:ext cx="10820095" cy="0"/>
          </a:xfrm>
          <a:prstGeom prst="line">
            <a:avLst/>
          </a:prstGeom>
          <a:noFill/>
          <a:ln w="9525">
            <a:solidFill>
              <a:srgbClr val="D8DAD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3017520"/>
            <a:ext cx="26060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3816" y="315468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motif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3520440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 that must be preserved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017520"/>
            <a:ext cx="26060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D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315468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process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88536" y="3520440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molecular edits, learned once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543300"/>
            <a:ext cx="68580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1810512"/>
            <a:ext cx="27889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0536" y="1810512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3543300"/>
            <a:ext cx="74889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6894" y="2221992"/>
            <a:ext cx="0" cy="1321308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06894" y="2221992"/>
            <a:ext cx="103418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32520" y="3127248"/>
            <a:ext cx="27889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0536" y="3127248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0" y="3543300"/>
            <a:ext cx="74889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6894" y="3538728"/>
            <a:ext cx="0" cy="4572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6894" y="3538728"/>
            <a:ext cx="103418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32520" y="4443984"/>
            <a:ext cx="27889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0536" y="4443984"/>
            <a:ext cx="253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3543300"/>
            <a:ext cx="74889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6894" y="3543300"/>
            <a:ext cx="0" cy="1312164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6894" y="4855464"/>
            <a:ext cx="103418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85800" y="550468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fixes what is preserved; control decides which of the reachable endpoints is taken.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810512"/>
            <a:ext cx="2606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3816" y="1810512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role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83280" y="2221992"/>
            <a:ext cx="28803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71316" y="2221992"/>
            <a:ext cx="0" cy="1321308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1316" y="3543300"/>
            <a:ext cx="39776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3127248"/>
            <a:ext cx="2606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3127248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role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3538728"/>
            <a:ext cx="28803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1316" y="3538728"/>
            <a:ext cx="0" cy="4572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1316" y="3543300"/>
            <a:ext cx="39776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4443984"/>
            <a:ext cx="2606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" y="4443984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Aldehyde role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83280" y="4855464"/>
            <a:ext cx="288036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71316" y="3543300"/>
            <a:ext cx="0" cy="1312164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316" y="3543300"/>
            <a:ext cx="397764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60520" y="3017520"/>
            <a:ext cx="283464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88536" y="31546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Ugi-3 assembly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88536" y="352044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constrained by the reaction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86600" y="3543300"/>
            <a:ext cx="114300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21040" y="3017520"/>
            <a:ext cx="318211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9056" y="31546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lipid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3520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synthesisable within the known family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50468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roles are preserved, so every candidate stays makeable in the established chemistry.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COMPOSE-Lipid: novel biodegradable linker scaffolds for lung editing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biodegradable linker motif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62072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088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ionizable lipids built around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9784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A549 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77456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vivo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intranasal delivery to the lung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45168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65208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3224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across lung cell types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34256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linker is held fixed and the rest is generated, so biodegradability is carried by construction rather than selected for downstream.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FORGE: Ugi-3 lipid discovery for IM vaccine delivery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within the known Ugi-3 family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62072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088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screen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9784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IM setting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77456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candidates carried forward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45168" y="3429000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65208" y="2907792"/>
            <a:ext cx="1901952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A958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3224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study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into the follow-on study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34256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stays inside the established family throughout, so a hit is immediately actionable in the existing synthesis programme.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figure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2331720"/>
            <a:ext cx="1901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2376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" y="2816352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generative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2999232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62072" y="2331720"/>
            <a:ext cx="1901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088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816352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2999232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9784" y="2331720"/>
            <a:ext cx="1901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816352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formulation, characterisation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77456" y="2999232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901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816352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and in vivo reporter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45168" y="2999232"/>
            <a:ext cx="274320" cy="0"/>
          </a:xfrm>
          <a:prstGeom prst="line">
            <a:avLst/>
          </a:prstGeom>
          <a:noFill/>
          <a:ln w="12700">
            <a:solidFill>
              <a:srgbClr val="8C90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65208" y="2331720"/>
            <a:ext cx="1901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3224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2816352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study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0507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9784" y="40507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experimental architecture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65208" y="405079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</a:t>
            </a:r>
            <a:pPr indent="0" marL="0">
              <a:buNone/>
            </a:pPr>
            <a:r>
              <a:rPr lang="en-US" sz="130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9560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programmes take the same five-figure shape. The contents differ at Figures 1–2, where the model differs, and at Figure 5, where the application does. Panels below are proposed, not results.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1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generative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from the Ugi-3 reaction family through generation to synthesised candidates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inventory and the reaction constraints that define the family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2330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72330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Flow-matching model over precursor roles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1117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9989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9989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 and convergence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of held-out family members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6160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set: scale and composition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is the schematic a reader remembers; b–f establish that the generator is sound before anything is made.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2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computational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531860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508086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distributions of generated against reference lipids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87288" y="1481328"/>
            <a:ext cx="531860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6160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6160" y="1792224"/>
            <a:ext cx="508086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known family and novelty within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of the generated 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3458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2330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72330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baseline generators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1117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9989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39989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reaction grounding removed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472722"/>
            <a:ext cx="10820095" cy="1050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55501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783618"/>
            <a:ext cx="10582351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funnel: generated → filtered → carried to synthesis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 is what separates a generator that runs from one that matters; panel f is what licenses the wet-lab spend.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3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synthesis, formulation, characterisation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Ugi-3 synthetic route for the selected candidates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50769"/>
            <a:ext cx="531860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1665"/>
            <a:ext cx="5080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purity confirmation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7288" y="2950769"/>
            <a:ext cx="531860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6160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6160" y="3261665"/>
            <a:ext cx="5080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LNP formulation: components and molar ratios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polydispersity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36544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55416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55416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charge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6160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efficiency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38031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6903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56903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pKa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is short because the family is known: this is the step COMPOSE-Lipid has to develop.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4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vitro and in vivo reporter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531860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508086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transfection, dose response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87288" y="1481328"/>
            <a:ext cx="531860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6160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6160" y="1792224"/>
            <a:ext cx="508086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across the dose range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847969"/>
            <a:ext cx="10820095" cy="130836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9302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58865"/>
            <a:ext cx="10582351" cy="88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expression after intramuscular delivery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Organ-level biodistribution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53458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2330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a benchmark formulation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21117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9989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9989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selected for the vaccine study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 is the one a reviewer looks for first: the new lipid against an established formulation.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5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vaccine study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Immunisation schedule, groups and antigen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889504"/>
            <a:ext cx="5318608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5080864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Antigen-specific antibody titres over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7288" y="2889504"/>
            <a:ext cx="5318608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6160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6160" y="3200400"/>
            <a:ext cx="5080864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response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the benchmark formulation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7288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5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6160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Tolerability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that closes the programme: a generated lipid carried through to an immune readout.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1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generative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from a retained linker motif through constrained generation to synthesised candidates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curation and the executable transition 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2330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72330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process and its edit vocabulary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1117" y="2950769"/>
            <a:ext cx="348477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9989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9989" y="3261665"/>
            <a:ext cx="324703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fragment-constraint interface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and constraint satisfaction by construction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6160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set: scale and scaffold composition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 is the one that distinguishes this model: the constraint is an input, not a filter applied afterwards.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2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computational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531860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508086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distributions against known ionizable lipids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87288" y="1481328"/>
            <a:ext cx="531860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6160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6160" y="1792224"/>
            <a:ext cx="508086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novelty and distance from known lipids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of the generated 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3458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2330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72330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baseline generators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1117" y="2977025"/>
            <a:ext cx="3484778" cy="1312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9989" y="305932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39989" y="3287921"/>
            <a:ext cx="3247034" cy="892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fragment constraint and learned prior removed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472722"/>
            <a:ext cx="10820095" cy="1050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55501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783618"/>
            <a:ext cx="10582351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funnel: generated → filtered → carried to synthesis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 carries the novelty claim, so it has to be quantitative rather than illustrative.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3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synthesis, formulation, characterisation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development for the novel linker scaffolds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950769"/>
            <a:ext cx="531860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1665"/>
            <a:ext cx="5080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purity confirmation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7288" y="2950769"/>
            <a:ext cx="531860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6160" y="30330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6160" y="3261665"/>
            <a:ext cx="50808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LNP formulation: components and molar ratios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polydispersity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36544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55416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55416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charge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6160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efficiency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38031" y="4358945"/>
            <a:ext cx="2567864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6903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56903" y="4669841"/>
            <a:ext cx="233012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pKa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is the real cost of a novel scaffold, and the reason the linker was constrained rather than generated.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4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vitro and in vivo reporter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531860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508086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A549 transfection, dose response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87288" y="1481328"/>
            <a:ext cx="531860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6160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6160" y="1792224"/>
            <a:ext cx="508086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across the dose range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847969"/>
            <a:ext cx="10820095" cy="130836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93026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58865"/>
            <a:ext cx="10582351" cy="88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expression after intranasal delivery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Organ-level biodistribution, lung against off-target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53458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72330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a benchmark formulation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21117" y="4339215"/>
            <a:ext cx="3484778" cy="1183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9989" y="44215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9989" y="4650111"/>
            <a:ext cx="3247034" cy="763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selected for the editing study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 has to show lung selectivity, not just lung signal, for the intranasal route to mean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COMPOSE-Lipid</a:t>
            </a:r>
            <a:pPr indent="0" marL="0">
              <a:buNone/>
            </a:pPr>
            <a:r>
              <a:rPr lang="en-US" sz="3000" b="1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Figure 5</a:t>
            </a:r>
            <a:pPr indent="0" marL="0">
              <a:buNone/>
            </a:pPr>
            <a:r>
              <a:rPr lang="en-US" sz="2100" dirty="0">
                <a:solidFill>
                  <a:srgbClr val="5A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editing study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636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792224"/>
            <a:ext cx="1058235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construct, dosing schedule and groups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889504"/>
            <a:ext cx="5318608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5080864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efficiency in the lung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7288" y="2889504"/>
            <a:ext cx="5318608" cy="128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6160" y="29718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6160" y="3200400"/>
            <a:ext cx="5080864" cy="865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across lung cell 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of editing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7288" y="4358945"/>
            <a:ext cx="5318608" cy="11640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6160" y="444124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6160" y="4669841"/>
            <a:ext cx="508086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Tolerability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74243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 is the claim: editing resolved by cell type, not a single aggregate lung number.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generative routes to new ionizable lipids</dc:title>
  <dc:subject>PptxGenJS Presentation</dc:subject>
  <dc:creator>PptxGenJS</dc:creator>
  <cp:lastModifiedBy>PptxGenJS</cp:lastModifiedBy>
  <cp:revision>1</cp:revision>
  <dcterms:created xsi:type="dcterms:W3CDTF">2026-09-28T09:44:36Z</dcterms:created>
  <dcterms:modified xsi:type="dcterms:W3CDTF">2026-09-28T09:44:36Z</dcterms:modified>
</cp:coreProperties>
</file>