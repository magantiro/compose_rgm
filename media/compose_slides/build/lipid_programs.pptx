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29968"/>
            <a:ext cx="95097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generative routes to new ionizable lipids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3346704"/>
            <a:ext cx="859536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35844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pPr indent="0" marL="0">
              <a:buNone/>
            </a:pPr>
            <a:r>
              <a:rPr lang="en-US" sz="1500" dirty="0">
                <a:solidFill>
                  <a:srgbClr val="5A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synthesis-grounded flow matching within a known Ugi-3 family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9867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</a:t>
            </a:r>
            <a:pPr indent="0" marL="0">
              <a:buNone/>
            </a:pPr>
            <a:r>
              <a:rPr lang="en-US" sz="1500" dirty="0">
                <a:solidFill>
                  <a:srgbClr val="5A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fragment-constrained transformation into novel scaffold space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generative routes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977640" y="151790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092440" y="151790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195681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03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type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1031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matching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92440" y="21031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transformation process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2615184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7614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regime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276148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Synthesis-grounded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276148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molecular edits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273552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4198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regime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3419856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Ugi-3 family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3419856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scaffold space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0782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prior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407822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semantics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407822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constraint on a motif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" y="4590288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736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path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473659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 → reporter IM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73659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A549 → intranasal lung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5800" y="524865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394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977640" y="53949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vaccine delivery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53949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editing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85800" y="5907024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3017520"/>
            <a:ext cx="26060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13816" y="3154680"/>
            <a:ext cx="235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motif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3520440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fragment that must be preserved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017520"/>
            <a:ext cx="26060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D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3154680"/>
            <a:ext cx="235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process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88536" y="3520440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molecular edits, learned once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3543300"/>
            <a:ext cx="68580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732520" y="1810512"/>
            <a:ext cx="278892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60536" y="1810512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0" y="3543300"/>
            <a:ext cx="74889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06894" y="2221992"/>
            <a:ext cx="0" cy="1321308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06894" y="2221992"/>
            <a:ext cx="103418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732520" y="3127248"/>
            <a:ext cx="278892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0536" y="3127248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0" y="3543300"/>
            <a:ext cx="74889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06894" y="3538728"/>
            <a:ext cx="0" cy="4572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06894" y="3538728"/>
            <a:ext cx="103418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732520" y="4443984"/>
            <a:ext cx="278892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0536" y="4443984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C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0" y="3543300"/>
            <a:ext cx="74889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06894" y="3543300"/>
            <a:ext cx="0" cy="1312164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06894" y="4855464"/>
            <a:ext cx="103418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85800" y="5504688"/>
            <a:ext cx="9875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fixes what is preserved; control decides which of the reachable endpoints is taken.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810512"/>
            <a:ext cx="2606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13816" y="1810512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role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383280" y="2221992"/>
            <a:ext cx="28803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71316" y="2221992"/>
            <a:ext cx="0" cy="1321308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1316" y="3543300"/>
            <a:ext cx="39776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85800" y="3127248"/>
            <a:ext cx="2606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3816" y="3127248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role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83280" y="3538728"/>
            <a:ext cx="28803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71316" y="3538728"/>
            <a:ext cx="0" cy="4572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1316" y="3543300"/>
            <a:ext cx="39776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5800" y="4443984"/>
            <a:ext cx="2606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" y="4443984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Aldehyde role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383280" y="4855464"/>
            <a:ext cx="28803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71316" y="3543300"/>
            <a:ext cx="0" cy="1312164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316" y="3543300"/>
            <a:ext cx="39776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160520" y="3017520"/>
            <a:ext cx="28346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88536" y="315468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Ugi-3 assembly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288536" y="3520440"/>
            <a:ext cx="2578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constrained by the reaction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86600" y="3543300"/>
            <a:ext cx="114300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321040" y="3017520"/>
            <a:ext cx="3182112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49056" y="315468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lipid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449056" y="35204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synthesisable within the known family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504688"/>
            <a:ext cx="9875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Precursor roles are preserved, so every candidate stays makeable in the established chemistry.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COMPOSE-Lipid: novel biodegradable linker scaffolds for lung editing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22376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biodegradable linker motif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42032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62072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0088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90088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ionizable lipids built around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09744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9784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A549 screen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77456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97496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512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vivo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intranasal delivery to the lung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45168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65208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93224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Readout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793224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across lung cell types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334256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linker is held fixed and the rest is generated, so biodegradability is carried by construction rather than selected for downstream.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FORGE: Ugi-3 lipid discovery for IM vaccine delivery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22376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within the known Ugi-3 family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42032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62072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0088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90088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09744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9784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vivo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IM setting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77456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97496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512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candidates carried forward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45168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65208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93224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Vaccine study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793224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into the follow-on study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334256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stays inside the established family throughout, so a hit is immediately actionable in the existing synthesis programme.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figure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2331720"/>
            <a:ext cx="1901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22376" y="24688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" y="2816352"/>
            <a:ext cx="1645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generative model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42032" y="2999232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62072" y="2331720"/>
            <a:ext cx="1901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0088" y="24688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90088" y="2816352"/>
            <a:ext cx="1645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validation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09744" y="2999232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9784" y="2331720"/>
            <a:ext cx="1901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24688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2816352"/>
            <a:ext cx="1645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Synthesis, formulation, characterisation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77456" y="2999232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97496" y="2331720"/>
            <a:ext cx="1901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512" y="24688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2816352"/>
            <a:ext cx="1645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 and in vivo reporter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45168" y="2999232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65208" y="2331720"/>
            <a:ext cx="1901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93224" y="24688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793224" y="2816352"/>
            <a:ext cx="1645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study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4050792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29784" y="4050792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experimental architecture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665208" y="4050792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vaccine</a:t>
            </a:r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</a:t>
            </a:r>
            <a:pPr indent="0" marL="0">
              <a:buNone/>
            </a:pPr>
            <a:r>
              <a:rPr lang="en-US" sz="13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9560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programmes take the same five-figure shape. The contents differ at Figures 1–2, where the model differs, and at Figure 5, where the application does. Panels below are proposed, not results.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— the generative model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261872" y="1481328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19088" y="148132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901952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029968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overview: from data through generation to synthesised candidates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85800" y="2578608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70662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706624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Ugi-3 precursor inventory and reaction constraints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2706624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Lipid and drug-like corpus; the executable transition set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5800" y="3255264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383280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Flow-matching model over precursor roles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19088" y="33832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transformation process and its edit vocabulary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05993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4059936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objective and convergence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85800" y="460857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3659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4736592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reconstruction within the family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473659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and constraint satisfaction by construction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85800" y="5285232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74243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 carries the whole argument; b–e establish that the generator is sound before any molecule is made.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— computational validation of the generator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261872" y="1481328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19088" y="148132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901952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029968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distributions of generated against reference lipids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85800" y="250545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63347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633472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of the known family and novelty within 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263347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novelty and distance from known lipids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5800" y="3108960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23697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236976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of the generated set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85800" y="3712464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840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840480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against baseline generators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85800" y="4315968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44398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4443984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reaction grounding removed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6419088" y="4443984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fragment constraint and learned prior removed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85800" y="4919472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504748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61872" y="5047488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funnel: generated → filtered → carried to synthesis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85800" y="552297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815584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that spans both columns is the same panel in both programmes. The ablations separate a working generator from a merely valid one; the funnel is what licenses the wet-lab spend.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— synthesis, formulation and characterisation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261872" y="1481328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19088" y="148132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901952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029968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Ugi-3 route for the selected candidates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19088" y="20299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development for the novel linker scaffolds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85800" y="250545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63347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633472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 purity confirmation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5800" y="3108960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23697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236976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LNP formulation: components and ratios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85800" y="3712464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840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840480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polydispersity and surface charge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85800" y="4315968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44398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4443984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efficiency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85800" y="4919472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504748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61872" y="5047488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Apparent pKa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85800" y="552297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5815584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panel a differs between the programmes: a known route against one that has to be developed for a new scaffold.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— in vitro and in vivo reporter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261872" y="1481328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19088" y="148132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901952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029968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 transfection, dose response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19088" y="20299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A549 transfection, dose response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85800" y="250545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63347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633472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Viability across the dose range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5800" y="3108960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23697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236976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expression after intramuscular delivery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19088" y="3236976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expression after intranasal delivery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85800" y="3712464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840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840480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Organ-level biodistribution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85800" y="4315968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44398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4443984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against a benchmark formulation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85800" y="4919472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504748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61872" y="5047488"/>
            <a:ext cx="10232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selection carried into the application study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85800" y="552297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815584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experimental architecture in both programmes; the cell line and the route of administration are what change.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— the application study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51790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· vaccine study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19088" y="151790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 · editing study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1956816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19088" y="1956816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848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61288" y="2084832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Immunisation schedule and groups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19088" y="20848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94576" y="2084832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construct and dosing schedule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85800" y="2615184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9088" y="2615184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74320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" y="274320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Antigen-specific antibody titres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19088" y="274320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94576" y="274320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efficiency in the lung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85800" y="3273552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19088" y="3273552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4015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401568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response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6419088" y="34015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3401568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across lung cell types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85800" y="3931920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19088" y="3931920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05993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4059936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against the benchmark formulation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419088" y="405993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94576" y="4059936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of editing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85800" y="4590288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19088" y="4590288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71830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718304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Tolerability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6419088" y="471830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894576" y="4718304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Tolerability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685800" y="5248656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19088" y="5248656"/>
            <a:ext cx="507492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557784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figure where the two programmes stop sharing a shape: one ends in an immune readout, the other in an editing readout.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 generative routes to new ionizable lipids</dc:title>
  <dc:subject>PptxGenJS Presentation</dc:subject>
  <dc:creator>PptxGenJS</dc:creator>
  <cp:lastModifiedBy>PptxGenJS</cp:lastModifiedBy>
  <cp:revision>1</cp:revision>
  <dcterms:created xsi:type="dcterms:W3CDTF">2026-09-28T09:39:16Z</dcterms:created>
  <dcterms:modified xsi:type="dcterms:W3CDTF">2026-09-28T09:39:16Z</dcterms:modified>
</cp:coreProperties>
</file>