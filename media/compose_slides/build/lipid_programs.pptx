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029968"/>
            <a:ext cx="95097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generative routes to new ionizable lipids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85800" y="3346704"/>
            <a:ext cx="8595360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358444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</a:t>
            </a:r>
            <a:pPr indent="0" marL="0">
              <a:buNone/>
            </a:pPr>
            <a:r>
              <a:rPr lang="en-US" sz="1500" dirty="0">
                <a:solidFill>
                  <a:srgbClr val="5A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synthesis-grounded flow matching within a known Ugi-3 family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9867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COMPOSE-Lipid</a:t>
            </a:r>
            <a:pPr indent="0" marL="0">
              <a:buNone/>
            </a:pPr>
            <a:r>
              <a:rPr lang="en-US" sz="1500" dirty="0">
                <a:solidFill>
                  <a:srgbClr val="5A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fragment-constrained transformation into novel scaffold space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30352"/>
            <a:ext cx="10820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complementary generative routes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977640" y="1517904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8092440" y="1517904"/>
            <a:ext cx="3429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COMPOSE-Lipid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85800" y="1956816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1031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type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977640" y="210312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matching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092440" y="210312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transformation process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" y="2615184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7614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regime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977640" y="276148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Synthesis-grounded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092440" y="276148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Executable molecular edits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3273552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41985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regime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3419856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Ugi-3 family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092440" y="3419856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scaffold space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931920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0782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Chemistry prior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977640" y="407822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 semantics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092440" y="4078224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 constraint on a motif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85800" y="4590288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47365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path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473659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HeLa → reporter IM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736592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A549 → intranasal lung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85800" y="5248656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3949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977640" y="539496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vaccine delivery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092440" y="539496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editing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85800" y="5907024"/>
            <a:ext cx="10820095" cy="0"/>
          </a:xfrm>
          <a:prstGeom prst="line">
            <a:avLst/>
          </a:prstGeom>
          <a:noFill/>
          <a:ln w="9525">
            <a:solidFill>
              <a:srgbClr val="D8DAD9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30352"/>
            <a:ext cx="10820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85800" y="3017520"/>
            <a:ext cx="26060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6B7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13816" y="3154680"/>
            <a:ext cx="2350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motif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13816" y="3520440"/>
            <a:ext cx="2350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fragment that must be preserved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017520"/>
            <a:ext cx="26060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D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88536" y="3154680"/>
            <a:ext cx="2350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process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88536" y="3520440"/>
            <a:ext cx="23500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executable molecular edits, learned once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3543300"/>
            <a:ext cx="68580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732520" y="1810512"/>
            <a:ext cx="278892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6B7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860536" y="1810512"/>
            <a:ext cx="2532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0" y="3543300"/>
            <a:ext cx="748894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06894" y="2221992"/>
            <a:ext cx="0" cy="1321308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06894" y="2221992"/>
            <a:ext cx="1034186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732520" y="3127248"/>
            <a:ext cx="278892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6B7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860536" y="3127248"/>
            <a:ext cx="2532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B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0" y="3543300"/>
            <a:ext cx="748894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06894" y="3538728"/>
            <a:ext cx="0" cy="4572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06894" y="3538728"/>
            <a:ext cx="1034186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732520" y="4443984"/>
            <a:ext cx="278892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2F6B7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60536" y="4443984"/>
            <a:ext cx="2532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C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858000" y="3543300"/>
            <a:ext cx="748894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06894" y="3543300"/>
            <a:ext cx="0" cy="1312164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06894" y="4855464"/>
            <a:ext cx="1034186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85800" y="5504688"/>
            <a:ext cx="9875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 fixes what is preserved; control decides which of the reachable endpoints is taken.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30352"/>
            <a:ext cx="10820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85800" y="1810512"/>
            <a:ext cx="26060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A9581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13816" y="1810512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Amine role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383280" y="2221992"/>
            <a:ext cx="288036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71316" y="2221992"/>
            <a:ext cx="0" cy="1321308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1316" y="3543300"/>
            <a:ext cx="397764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85800" y="3127248"/>
            <a:ext cx="26060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A958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13816" y="3127248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role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83280" y="3538728"/>
            <a:ext cx="288036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71316" y="3538728"/>
            <a:ext cx="0" cy="4572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1316" y="3543300"/>
            <a:ext cx="397764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85800" y="4443984"/>
            <a:ext cx="26060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A958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" y="4443984"/>
            <a:ext cx="2350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Aldehyde role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383280" y="4855464"/>
            <a:ext cx="288036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71316" y="3543300"/>
            <a:ext cx="0" cy="1312164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71316" y="3543300"/>
            <a:ext cx="397764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160520" y="3017520"/>
            <a:ext cx="28346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A9581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288536" y="3154680"/>
            <a:ext cx="2578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Ugi-3 assembly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288536" y="3520440"/>
            <a:ext cx="2578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constrained by the reaction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086600" y="3543300"/>
            <a:ext cx="114300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321040" y="3017520"/>
            <a:ext cx="3182112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A958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49056" y="315468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lipid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449056" y="352044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synthesisable within the known family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504688"/>
            <a:ext cx="9875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Precursor roles are preserved, so every candidate stays makeable in the established chemistry.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30352"/>
            <a:ext cx="10820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COMPOSE-Lipid: novel biodegradable linker scaffolds for lung editing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2907792"/>
            <a:ext cx="1901952" cy="1042416"/>
          </a:xfrm>
          <a:prstGeom prst="rect">
            <a:avLst/>
          </a:prstGeom>
          <a:solidFill>
            <a:srgbClr val="FFFFFF"/>
          </a:solidFill>
          <a:ln w="15875">
            <a:solidFill>
              <a:srgbClr val="2F6B7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22376" y="3044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" y="3392424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biodegradable linker motif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42032" y="3429000"/>
            <a:ext cx="27432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62072" y="2907792"/>
            <a:ext cx="1901952" cy="1042416"/>
          </a:xfrm>
          <a:prstGeom prst="rect">
            <a:avLst/>
          </a:prstGeom>
          <a:solidFill>
            <a:srgbClr val="FFFFFF"/>
          </a:solidFill>
          <a:ln w="15875">
            <a:solidFill>
              <a:srgbClr val="2F6B7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90088" y="3044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990088" y="3392424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ionizable lipids built around 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09744" y="3429000"/>
            <a:ext cx="27432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129784" y="2907792"/>
            <a:ext cx="1901952" cy="1042416"/>
          </a:xfrm>
          <a:prstGeom prst="rect">
            <a:avLst/>
          </a:prstGeom>
          <a:solidFill>
            <a:srgbClr val="FFFFFF"/>
          </a:solidFill>
          <a:ln w="15875">
            <a:solidFill>
              <a:srgbClr val="2F6B7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57800" y="3044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vitro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3392424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A549 screen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77456" y="3429000"/>
            <a:ext cx="27432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97496" y="2907792"/>
            <a:ext cx="1901952" cy="1042416"/>
          </a:xfrm>
          <a:prstGeom prst="rect">
            <a:avLst/>
          </a:prstGeom>
          <a:solidFill>
            <a:srgbClr val="FFFFFF"/>
          </a:solidFill>
          <a:ln w="15875">
            <a:solidFill>
              <a:srgbClr val="2F6B7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25512" y="3044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vivo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525512" y="3392424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intranasal delivery to the lung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345168" y="3429000"/>
            <a:ext cx="27432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65208" y="2907792"/>
            <a:ext cx="1901952" cy="1042416"/>
          </a:xfrm>
          <a:prstGeom prst="rect">
            <a:avLst/>
          </a:prstGeom>
          <a:solidFill>
            <a:srgbClr val="FFFFFF"/>
          </a:solidFill>
          <a:ln w="15875">
            <a:solidFill>
              <a:srgbClr val="2F6B7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93224" y="3044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Readout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793224" y="3392424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across lung cell types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334256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linker is held fixed and the rest is generated, so biodegradability is carried by construction rather than selected for downstream.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30352"/>
            <a:ext cx="10820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D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FORGE: Ugi-3 lipid discovery for IM vaccine delivery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2907792"/>
            <a:ext cx="1901952" cy="1042416"/>
          </a:xfrm>
          <a:prstGeom prst="rect">
            <a:avLst/>
          </a:prstGeom>
          <a:solidFill>
            <a:srgbClr val="FFFFFF"/>
          </a:solidFill>
          <a:ln w="15875">
            <a:solidFill>
              <a:srgbClr val="A9581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22376" y="3044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" y="3392424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 within the known Ugi-3 family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42032" y="3429000"/>
            <a:ext cx="27432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62072" y="2907792"/>
            <a:ext cx="1901952" cy="1042416"/>
          </a:xfrm>
          <a:prstGeom prst="rect">
            <a:avLst/>
          </a:prstGeom>
          <a:solidFill>
            <a:srgbClr val="FFFFFF"/>
          </a:solidFill>
          <a:ln w="15875">
            <a:solidFill>
              <a:srgbClr val="A9581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90088" y="3044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vitro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990088" y="3392424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HeLa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09744" y="3429000"/>
            <a:ext cx="27432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129784" y="2907792"/>
            <a:ext cx="1901952" cy="1042416"/>
          </a:xfrm>
          <a:prstGeom prst="rect">
            <a:avLst/>
          </a:prstGeom>
          <a:solidFill>
            <a:srgbClr val="FFFFFF"/>
          </a:solidFill>
          <a:ln w="15875">
            <a:solidFill>
              <a:srgbClr val="A958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57800" y="3044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vivo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3392424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reporter IM setting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77456" y="3429000"/>
            <a:ext cx="27432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397496" y="2907792"/>
            <a:ext cx="1901952" cy="1042416"/>
          </a:xfrm>
          <a:prstGeom prst="rect">
            <a:avLst/>
          </a:prstGeom>
          <a:solidFill>
            <a:srgbClr val="FFFFFF"/>
          </a:solidFill>
          <a:ln w="15875">
            <a:solidFill>
              <a:srgbClr val="A958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25512" y="3044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525512" y="3392424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candidates carried forward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345168" y="3429000"/>
            <a:ext cx="274320" cy="0"/>
          </a:xfrm>
          <a:prstGeom prst="line">
            <a:avLst/>
          </a:prstGeom>
          <a:noFill/>
          <a:ln w="12700">
            <a:solidFill>
              <a:srgbClr val="8C909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65208" y="2907792"/>
            <a:ext cx="1901952" cy="1042416"/>
          </a:xfrm>
          <a:prstGeom prst="rect">
            <a:avLst/>
          </a:prstGeom>
          <a:solidFill>
            <a:srgbClr val="FFFFFF"/>
          </a:solidFill>
          <a:ln w="15875">
            <a:solidFill>
              <a:srgbClr val="A9581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93224" y="304495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95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Vaccine study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793224" y="3392424"/>
            <a:ext cx="16459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into the follow-on study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334256"/>
            <a:ext cx="10241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C9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stays inside the established family throughout, so a hit is immediately actionable in the existing synthesis programme.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 generative routes to new ionizable lipids</dc:title>
  <dc:subject>PptxGenJS Presentation</dc:subject>
  <dc:creator>PptxGenJS</dc:creator>
  <cp:lastModifiedBy>PptxGenJS</cp:lastModifiedBy>
  <cp:revision>1</cp:revision>
  <dcterms:created xsi:type="dcterms:W3CDTF">2026-09-28T09:26:44Z</dcterms:created>
  <dcterms:modified xsi:type="dcterms:W3CDTF">2026-09-28T09:26:44Z</dcterms:modified>
</cp:coreProperties>
</file>